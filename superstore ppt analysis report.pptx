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notesSlides/notesSlide2.xml" ContentType="application/vnd.openxmlformats-officedocument.presentationml.notesSlide+xml"/>
  <Override PartName="/ppt/theme/themeOverride4.xml" ContentType="application/vnd.openxmlformats-officedocument.themeOverride+xml"/>
  <Override PartName="/ppt/notesSlides/notesSlide3.xml" ContentType="application/vnd.openxmlformats-officedocument.presentationml.notesSlide+xml"/>
  <Override PartName="/ppt/theme/themeOverride5.xml" ContentType="application/vnd.openxmlformats-officedocument.themeOverride+xml"/>
  <Override PartName="/ppt/notesSlides/notesSlide4.xml" ContentType="application/vnd.openxmlformats-officedocument.presentationml.notesSlide+xml"/>
  <Override PartName="/ppt/theme/themeOverride6.xml" ContentType="application/vnd.openxmlformats-officedocument.themeOverride+xml"/>
  <Override PartName="/ppt/notesSlides/notesSlide5.xml" ContentType="application/vnd.openxmlformats-officedocument.presentationml.notesSlide+xml"/>
  <Override PartName="/ppt/theme/themeOverride7.xml" ContentType="application/vnd.openxmlformats-officedocument.themeOverride+xml"/>
  <Override PartName="/ppt/notesSlides/notesSlide6.xml" ContentType="application/vnd.openxmlformats-officedocument.presentationml.notesSlide+xml"/>
  <Override PartName="/ppt/theme/themeOverride8.xml" ContentType="application/vnd.openxmlformats-officedocument.themeOverride+xml"/>
  <Override PartName="/ppt/notesSlides/notesSlide7.xml" ContentType="application/vnd.openxmlformats-officedocument.presentationml.notesSlide+xml"/>
  <Override PartName="/ppt/theme/themeOverride9.xml" ContentType="application/vnd.openxmlformats-officedocument.themeOverride+xml"/>
  <Override PartName="/ppt/notesSlides/notesSlide8.xml" ContentType="application/vnd.openxmlformats-officedocument.presentationml.notesSlide+xml"/>
  <Override PartName="/ppt/theme/themeOverride10.xml" ContentType="application/vnd.openxmlformats-officedocument.themeOverride+xml"/>
  <Override PartName="/ppt/notesSlides/notesSlide9.xml" ContentType="application/vnd.openxmlformats-officedocument.presentationml.notesSlide+xml"/>
  <Override PartName="/ppt/theme/themeOverride11.xml" ContentType="application/vnd.openxmlformats-officedocument.themeOverride+xml"/>
  <Override PartName="/ppt/notesSlides/notesSlide10.xml" ContentType="application/vnd.openxmlformats-officedocument.presentationml.notesSlide+xml"/>
  <Override PartName="/ppt/theme/themeOverride12.xml" ContentType="application/vnd.openxmlformats-officedocument.themeOverr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7"/>
  </p:notesMasterIdLst>
  <p:sldIdLst>
    <p:sldId id="278" r:id="rId5"/>
    <p:sldId id="279" r:id="rId6"/>
    <p:sldId id="280" r:id="rId7"/>
    <p:sldId id="281" r:id="rId8"/>
    <p:sldId id="282" r:id="rId9"/>
    <p:sldId id="283" r:id="rId10"/>
    <p:sldId id="284" r:id="rId11"/>
    <p:sldId id="285" r:id="rId12"/>
    <p:sldId id="286" r:id="rId13"/>
    <p:sldId id="287" r:id="rId14"/>
    <p:sldId id="288" r:id="rId15"/>
    <p:sldId id="2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01546-198A-4195-BCF8-F0FF54C90E5E}" type="datetimeFigureOut">
              <a:rPr lang="en-US" smtClean="0"/>
              <a:t>11/3/2025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6DE88F-1F85-4A27-9D34-D74A50E7B0DA}" type="slidenum">
              <a:rPr lang="en-US" smtClean="0"/>
              <a:t>‹#›</a:t>
            </a:fld>
            <a:endParaRPr lang="en-US" dirty="0"/>
          </a:p>
        </p:txBody>
      </p:sp>
    </p:spTree>
    <p:extLst>
      <p:ext uri="{BB962C8B-B14F-4D97-AF65-F5344CB8AC3E}">
        <p14:creationId xmlns:p14="http://schemas.microsoft.com/office/powerpoint/2010/main" val="3730091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7847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A87A1-E5C2-2E45-321C-FDBE949EA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1BF966-EF4C-517B-CE3C-0674333DD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1BAC55-F6BB-FE7B-790F-72600E4DB9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C15020-AB6E-D1EA-872C-02106853F6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6217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37DB7-02BA-F355-FC3E-3337B96B9B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AAC3B-B75A-077A-33E4-69B6AF6F3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B86019-98F0-783B-8C7B-86DD55AE26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78953F-9FFC-D34A-DB86-1C04F824661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386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5CA0-6917-34BA-F98D-9AA7246916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32FF1-1731-A2CC-EC58-77B5A214E5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184C36-3DB0-354F-36F3-5A72370781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D25853-A8A9-3990-84F4-1A6699A67A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20946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91E09-7404-CBF2-56E4-B39D4C50A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A8FC97-4852-EBA6-ADD8-2955645B3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A66A3-6815-32E7-3EE0-F2A1CBDBA3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E93424-937F-4F8A-5FEF-62E7C08B23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42246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F74B8-F005-FE30-0553-1462FF0AFD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2FD4BB-1985-C5B3-DFC9-781E544958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184E0-CDDC-333D-CF05-4BBE2F9239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4E2706-3822-17DD-6D66-C5A1E64A020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1769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B5106-3607-3312-E947-403346BC0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DDDF5-1727-A4C9-4CC4-271B92E85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76D57-865E-13D0-78E0-823001246D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C3EC12-61BF-962E-055A-FC01ED5933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5237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1567-93B0-A68D-BB8A-08C8441D0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CCA04-862D-4CF6-1140-40CCB0138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4FB16-88FB-F79D-9281-182FFBB4F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D48222-05B5-2803-5A7B-D72D5FEE69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5454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CB880-6D1A-603B-2351-3E2513137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F905C-E5F0-D234-6DC7-F49FD318E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005A8A-BBE7-D8C9-9028-AC5A31F7D3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0E35B6-2503-B014-689F-7CB2A16DEBA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47416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EA63E-34D9-1081-1AE0-9DF763387E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8AA5C7-B61E-8F09-FA4E-0D0C5779D3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148D9-A169-CBBE-1133-D1AEFDB414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9EB26D-6A4C-0DB4-0FA8-9F6F720C5A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576189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38717-F95C-545A-B551-2779009BE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24FDF8-0910-F8D8-2D7F-83D8CEB95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D19CC4-0B07-1792-C694-FCF5796E1C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FCA0F5-72DB-9D6D-7DD0-DA06A260C0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AEA074-24A7-4657-AE02-A51F68EA6AA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8892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15074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4865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46401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88205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5120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909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30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793556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11/3/2025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3056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0950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3850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752911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509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264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9325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11/3/2025</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8589783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7.jp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3.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4.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5.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6.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7.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8.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9.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10.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11.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7.jpg"/><Relationship Id="rId2" Type="http://schemas.openxmlformats.org/officeDocument/2006/relationships/slideLayout" Target="../slideLayouts/slideLayout2.xml"/><Relationship Id="rId1" Type="http://schemas.openxmlformats.org/officeDocument/2006/relationships/themeOverride" Target="../theme/themeOverride12.xml"/><Relationship Id="rId6" Type="http://schemas.openxmlformats.org/officeDocument/2006/relationships/image" Target="../media/image9.png"/><Relationship Id="rId5" Type="http://schemas.openxmlformats.org/officeDocument/2006/relationships/image" Target="../media/image8.jpe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A1C807-B9AD-4C9B-BF9F-60F03428998E}"/>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 y="10"/>
            <a:ext cx="12192001" cy="6857990"/>
          </a:xfrm>
          <a:prstGeom prst="rect">
            <a:avLst/>
          </a:prstGeom>
        </p:spPr>
      </p:pic>
      <p:sp useBgFill="1">
        <p:nvSpPr>
          <p:cNvPr id="103"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597126" cy="1355426"/>
          </a:xfrm>
        </p:spPr>
        <p:txBody>
          <a:bodyPr>
            <a:noAutofit/>
          </a:bodyPr>
          <a:lstStyle/>
          <a:p>
            <a:pPr algn="l"/>
            <a:r>
              <a:rPr lang="en-US" sz="2800" b="1" dirty="0">
                <a:effectLst/>
              </a:rPr>
              <a:t>Fresh Mart Superstores Analysis Report</a:t>
            </a:r>
            <a:endParaRPr lang="en-US" sz="16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445989" y="3436191"/>
            <a:ext cx="3485072" cy="1026544"/>
          </a:xfrm>
        </p:spPr>
        <p:txBody>
          <a:bodyPr>
            <a:normAutofit/>
          </a:bodyPr>
          <a:lstStyle/>
          <a:p>
            <a:pPr algn="l"/>
            <a:r>
              <a:rPr lang="en-US" dirty="0"/>
              <a:t>Group 10 presentation</a:t>
            </a:r>
            <a:endParaRPr lang="en-US" sz="2300" dirty="0"/>
          </a:p>
        </p:txBody>
      </p:sp>
      <p:pic>
        <p:nvPicPr>
          <p:cNvPr id="6" name="Picture 5">
            <a:extLst>
              <a:ext uri="{FF2B5EF4-FFF2-40B4-BE49-F238E27FC236}">
                <a16:creationId xmlns:a16="http://schemas.microsoft.com/office/drawing/2014/main" id="{7A940AD8-AC30-110B-9357-A6FA236E4708}"/>
              </a:ext>
            </a:extLst>
          </p:cNvPr>
          <p:cNvPicPr>
            <a:picLocks noChangeAspect="1"/>
          </p:cNvPicPr>
          <p:nvPr/>
        </p:nvPicPr>
        <p:blipFill>
          <a:blip r:embed="rId5"/>
          <a:stretch>
            <a:fillRect/>
          </a:stretch>
        </p:blipFill>
        <p:spPr>
          <a:xfrm>
            <a:off x="0" y="-10"/>
            <a:ext cx="6858000" cy="6858000"/>
          </a:xfrm>
          <a:prstGeom prst="rect">
            <a:avLst/>
          </a:prstGeom>
        </p:spPr>
      </p:pic>
    </p:spTree>
    <p:extLst>
      <p:ext uri="{BB962C8B-B14F-4D97-AF65-F5344CB8AC3E}">
        <p14:creationId xmlns:p14="http://schemas.microsoft.com/office/powerpoint/2010/main" val="4167884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0EF2A0DA-AE81-4A45-972E-646AC2870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72B2D6DE-C9B5-4678-91EF-77E85F2350D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B536FA4E-0152-4E27-91DA-0FC22D1846B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89559F60-4CE1-4E2F-86EA-1B60679F1F4A}"/>
              </a:ext>
            </a:extLst>
          </p:cNvPr>
          <p:cNvSpPr>
            <a:spLocks noGrp="1"/>
          </p:cNvSpPr>
          <p:nvPr>
            <p:ph type="title"/>
          </p:nvPr>
        </p:nvSpPr>
        <p:spPr>
          <a:xfrm>
            <a:off x="6900493" y="609600"/>
            <a:ext cx="4538124" cy="970450"/>
          </a:xfrm>
        </p:spPr>
        <p:txBody>
          <a:bodyPr anchor="t">
            <a:normAutofit fontScale="90000"/>
          </a:bodyPr>
          <a:lstStyle/>
          <a:p>
            <a:r>
              <a:rPr lang="en-US" sz="4000" b="1" dirty="0">
                <a:effectLst/>
                <a:latin typeface="Calibri" panose="020F0502020204030204" pitchFamily="34" charset="0"/>
                <a:ea typeface="Calibri" panose="020F0502020204030204" pitchFamily="34" charset="0"/>
                <a:cs typeface="Calibri" panose="020F0502020204030204" pitchFamily="34" charset="0"/>
              </a:rPr>
              <a:t>Business Objective </a:t>
            </a:r>
            <a:br>
              <a:rPr lang="en-US" sz="4000" dirty="0"/>
            </a:br>
            <a:endParaRPr lang="en-US" sz="4000" dirty="0"/>
          </a:p>
        </p:txBody>
      </p:sp>
      <p:sp>
        <p:nvSpPr>
          <p:cNvPr id="24" name="Content Placeholder 2">
            <a:extLst>
              <a:ext uri="{FF2B5EF4-FFF2-40B4-BE49-F238E27FC236}">
                <a16:creationId xmlns:a16="http://schemas.microsoft.com/office/drawing/2014/main" id="{F260476B-CCA6-412B-A9C5-399C34AE6F05}"/>
              </a:ext>
            </a:extLst>
          </p:cNvPr>
          <p:cNvSpPr>
            <a:spLocks noGrp="1"/>
          </p:cNvSpPr>
          <p:nvPr>
            <p:ph idx="1"/>
          </p:nvPr>
        </p:nvSpPr>
        <p:spPr>
          <a:xfrm>
            <a:off x="6900492" y="1732449"/>
            <a:ext cx="4872407" cy="4058751"/>
          </a:xfrm>
        </p:spPr>
        <p:txBody>
          <a:bodyPr anchor="t">
            <a:normAutofit fontScale="92500" lnSpcReduction="10000"/>
          </a:bodyPr>
          <a:lstStyle/>
          <a:p>
            <a:r>
              <a:rPr lang="en-US" b="1" dirty="0">
                <a:effectLst/>
              </a:rPr>
              <a:t>The main objective of this analysis is to gain insights into sales performance, customer segmentation, payment preferences, and time-based purchasing behavior across multiple supermarket branches.</a:t>
            </a:r>
            <a:endParaRPr lang="en-US" sz="2400" dirty="0"/>
          </a:p>
          <a:p>
            <a:r>
              <a:rPr lang="en-US" b="1" dirty="0">
                <a:effectLst/>
              </a:rPr>
              <a:t> The goal is to help management make informed, data-driven decisions to improve sales, enhance customer experience, and optimize operations.</a:t>
            </a:r>
            <a:endParaRPr lang="en-US" sz="2400" dirty="0"/>
          </a:p>
          <a:p>
            <a:endParaRPr lang="en-US" sz="2400" dirty="0"/>
          </a:p>
        </p:txBody>
      </p:sp>
      <p:pic>
        <p:nvPicPr>
          <p:cNvPr id="5" name="Picture 4">
            <a:extLst>
              <a:ext uri="{FF2B5EF4-FFF2-40B4-BE49-F238E27FC236}">
                <a16:creationId xmlns:a16="http://schemas.microsoft.com/office/drawing/2014/main" id="{40C324DA-DA1E-21D0-BA4E-35D107CFEB11}"/>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32202356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AC9A123B-F604-56C3-F4C4-3701FF0A9EBA}"/>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3564B73F-AFDD-0D5E-A7C2-A1B5AC9629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3EA14250-AAB6-3E37-FAAE-189E6245505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9F0B9CC3-B7A1-617F-DD2B-81203DD140A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3592F9A6-6C8B-BEA5-7DD1-0A0D3AC64544}"/>
              </a:ext>
            </a:extLst>
          </p:cNvPr>
          <p:cNvSpPr>
            <a:spLocks noGrp="1"/>
          </p:cNvSpPr>
          <p:nvPr>
            <p:ph type="title"/>
          </p:nvPr>
        </p:nvSpPr>
        <p:spPr>
          <a:xfrm>
            <a:off x="7127346" y="114300"/>
            <a:ext cx="4538124" cy="542926"/>
          </a:xfrm>
        </p:spPr>
        <p:txBody>
          <a:bodyPr anchor="t">
            <a:normAutofit fontScale="90000"/>
          </a:bodyPr>
          <a:lstStyle/>
          <a:p>
            <a:r>
              <a:rPr lang="en-US" sz="4000" b="1" dirty="0">
                <a:effectLst/>
                <a:latin typeface="Calibri" panose="020F0502020204030204" pitchFamily="34" charset="0"/>
                <a:ea typeface="Calibri" panose="020F0502020204030204" pitchFamily="34" charset="0"/>
                <a:cs typeface="Calibri" panose="020F0502020204030204" pitchFamily="34" charset="0"/>
              </a:rPr>
              <a:t>Dataset Overview</a:t>
            </a:r>
            <a:br>
              <a:rPr lang="en-US" sz="4000" dirty="0">
                <a:latin typeface="Calibri" panose="020F0502020204030204" pitchFamily="34" charset="0"/>
                <a:ea typeface="Calibri" panose="020F0502020204030204" pitchFamily="34" charset="0"/>
                <a:cs typeface="Calibri" panose="020F0502020204030204" pitchFamily="34" charset="0"/>
              </a:rPr>
            </a:br>
            <a:br>
              <a:rPr lang="en-US" sz="4000" dirty="0"/>
            </a:br>
            <a:endParaRPr lang="en-US" sz="4000" dirty="0"/>
          </a:p>
        </p:txBody>
      </p:sp>
      <p:sp>
        <p:nvSpPr>
          <p:cNvPr id="24" name="Content Placeholder 2">
            <a:extLst>
              <a:ext uri="{FF2B5EF4-FFF2-40B4-BE49-F238E27FC236}">
                <a16:creationId xmlns:a16="http://schemas.microsoft.com/office/drawing/2014/main" id="{4276B22C-487A-1F13-D3D3-1374A4FBF669}"/>
              </a:ext>
            </a:extLst>
          </p:cNvPr>
          <p:cNvSpPr>
            <a:spLocks noGrp="1"/>
          </p:cNvSpPr>
          <p:nvPr>
            <p:ph idx="1"/>
          </p:nvPr>
        </p:nvSpPr>
        <p:spPr>
          <a:xfrm>
            <a:off x="6938512" y="771524"/>
            <a:ext cx="5164351" cy="6086475"/>
          </a:xfrm>
        </p:spPr>
        <p:txBody>
          <a:bodyPr anchor="t">
            <a:noAutofit/>
          </a:bodyPr>
          <a:lstStyle/>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The dataset consists of one fact table and five dimension tables, with a total of 1,000 rows.</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Tables:</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Fact Table – Supermarket Sales (12 columns) Contains key transactional (Numerical values)  </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Dimension Tables: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City (3 columns) – holds information on branch location , city and Invoice Id</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Product (2 columns) – contains product line and invoice id.</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Payment (2 columns) – captures payment method and  invoice id.</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Customer (3 columns) – holds customer type, gender, and  invoice id information.</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Calendar (5 columns) – includes date, day, month, quarter, and year fields for time-based analysis</a:t>
            </a:r>
          </a:p>
          <a:p>
            <a:pPr marL="450000" lvl="1"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This star schema data model allows efficient analysis of sales trends, customer behavior, and revenue performance through different dimensions.</a:t>
            </a:r>
            <a:endParaRPr lang="en-US" sz="1400" dirty="0">
              <a:latin typeface="Calibri" panose="020F0502020204030204" pitchFamily="34" charset="0"/>
              <a:ea typeface="Calibri" panose="020F0502020204030204" pitchFamily="34" charset="0"/>
              <a:cs typeface="Calibri" panose="020F0502020204030204" pitchFamily="34" charset="0"/>
            </a:endParaRPr>
          </a:p>
          <a:p>
            <a:endParaRPr lang="en-US" sz="1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89E95B4-A7A6-ACAA-A9CF-4318B88ADF92}"/>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947232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F53C933F-14E5-78B3-7BCF-A685DAA0BC25}"/>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CF942D51-E84F-CCA8-FFB8-54D366A674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1EDE7015-DAA9-8110-542E-B9AAB8C2FCA4}"/>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0285D24C-4989-4690-D754-FF0D5DB0453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02D6D391-DB2D-E55D-3EED-3DB95C139EFF}"/>
              </a:ext>
            </a:extLst>
          </p:cNvPr>
          <p:cNvSpPr>
            <a:spLocks noGrp="1"/>
          </p:cNvSpPr>
          <p:nvPr>
            <p:ph type="title"/>
          </p:nvPr>
        </p:nvSpPr>
        <p:spPr>
          <a:xfrm>
            <a:off x="7127346" y="192882"/>
            <a:ext cx="4538124" cy="542926"/>
          </a:xfrm>
        </p:spPr>
        <p:txBody>
          <a:bodyPr anchor="t">
            <a:normAutofit fontScale="90000"/>
          </a:bodyPr>
          <a:lstStyle/>
          <a:p>
            <a:r>
              <a:rPr lang="en-US" sz="4000" b="1" dirty="0">
                <a:effectLst/>
                <a:latin typeface="Calibri" panose="020F0502020204030204" pitchFamily="34" charset="0"/>
                <a:ea typeface="Calibri" panose="020F0502020204030204" pitchFamily="34" charset="0"/>
                <a:cs typeface="Calibri" panose="020F0502020204030204" pitchFamily="34" charset="0"/>
              </a:rPr>
              <a:t>Business</a:t>
            </a:r>
            <a:r>
              <a:rPr lang="en-US" sz="3600" b="1" dirty="0">
                <a:effectLst/>
                <a:latin typeface="Calibri" panose="020F0502020204030204" pitchFamily="34" charset="0"/>
                <a:ea typeface="Calibri" panose="020F0502020204030204" pitchFamily="34" charset="0"/>
                <a:cs typeface="Calibri" panose="020F0502020204030204" pitchFamily="34" charset="0"/>
              </a:rPr>
              <a:t> Problem</a:t>
            </a:r>
            <a:br>
              <a:rPr lang="en-US" sz="4000" dirty="0">
                <a:latin typeface="Calibri" panose="020F0502020204030204" pitchFamily="34" charset="0"/>
                <a:ea typeface="Calibri" panose="020F0502020204030204" pitchFamily="34" charset="0"/>
                <a:cs typeface="Calibri" panose="020F0502020204030204" pitchFamily="34" charset="0"/>
              </a:rPr>
            </a:br>
            <a:br>
              <a:rPr lang="en-US" sz="4000" dirty="0"/>
            </a:br>
            <a:endParaRPr lang="en-US" sz="4000" dirty="0"/>
          </a:p>
        </p:txBody>
      </p:sp>
      <p:sp>
        <p:nvSpPr>
          <p:cNvPr id="24" name="Content Placeholder 2">
            <a:extLst>
              <a:ext uri="{FF2B5EF4-FFF2-40B4-BE49-F238E27FC236}">
                <a16:creationId xmlns:a16="http://schemas.microsoft.com/office/drawing/2014/main" id="{15CF77C9-22E4-CAB2-7E93-9EA0CF4105B3}"/>
              </a:ext>
            </a:extLst>
          </p:cNvPr>
          <p:cNvSpPr>
            <a:spLocks noGrp="1"/>
          </p:cNvSpPr>
          <p:nvPr>
            <p:ph idx="1"/>
          </p:nvPr>
        </p:nvSpPr>
        <p:spPr>
          <a:xfrm>
            <a:off x="6849377" y="832248"/>
            <a:ext cx="5333999" cy="5929311"/>
          </a:xfrm>
        </p:spPr>
        <p:txBody>
          <a:bodyPr anchor="t">
            <a:noAutofit/>
          </a:bodyPr>
          <a:lstStyle/>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The supermarket chain operates multiple branches (A, B and C) across different cities( Naypyitaw, </a:t>
            </a:r>
            <a:r>
              <a:rPr lang="en-US" sz="1400" b="1" dirty="0" err="1">
                <a:effectLst/>
                <a:latin typeface="Calibri" panose="020F0502020204030204" pitchFamily="34" charset="0"/>
                <a:ea typeface="Calibri" panose="020F0502020204030204" pitchFamily="34" charset="0"/>
                <a:cs typeface="Calibri" panose="020F0502020204030204" pitchFamily="34" charset="0"/>
              </a:rPr>
              <a:t>yangon</a:t>
            </a:r>
            <a:r>
              <a:rPr lang="en-US" sz="1400" b="1" dirty="0">
                <a:effectLst/>
                <a:latin typeface="Calibri" panose="020F0502020204030204" pitchFamily="34" charset="0"/>
                <a:ea typeface="Calibri" panose="020F0502020204030204" pitchFamily="34" charset="0"/>
                <a:cs typeface="Calibri" panose="020F0502020204030204" pitchFamily="34" charset="0"/>
              </a:rPr>
              <a:t> and </a:t>
            </a:r>
            <a:r>
              <a:rPr lang="en-US" sz="1400" b="1" dirty="0" err="1">
                <a:effectLst/>
                <a:latin typeface="Calibri" panose="020F0502020204030204" pitchFamily="34" charset="0"/>
                <a:ea typeface="Calibri" panose="020F0502020204030204" pitchFamily="34" charset="0"/>
                <a:cs typeface="Calibri" panose="020F0502020204030204" pitchFamily="34" charset="0"/>
              </a:rPr>
              <a:t>mandalay</a:t>
            </a:r>
            <a:r>
              <a:rPr lang="en-US" sz="1400" b="1" dirty="0">
                <a:effectLst/>
                <a:latin typeface="Calibri" panose="020F0502020204030204" pitchFamily="34" charset="0"/>
                <a:ea typeface="Calibri" panose="020F0502020204030204" pitchFamily="34" charset="0"/>
                <a:cs typeface="Calibri" panose="020F0502020204030204" pitchFamily="34" charset="0"/>
              </a:rPr>
              <a:t>) and manages a wide range of product lines (Electronic accessories, Fashion accessories, Food and beverages, Health and beauty, Home and lifestyle, Sports and travel) , payment methods (</a:t>
            </a:r>
            <a:r>
              <a:rPr lang="en-US" sz="1100" dirty="0">
                <a:effectLst/>
                <a:latin typeface="Calibri" panose="020F0502020204030204" pitchFamily="34" charset="0"/>
                <a:ea typeface="Calibri" panose="020F0502020204030204" pitchFamily="34" charset="0"/>
                <a:cs typeface="Calibri" panose="020F0502020204030204" pitchFamily="34" charset="0"/>
              </a:rPr>
              <a:t> </a:t>
            </a:r>
            <a:r>
              <a:rPr lang="en-US" sz="1400" b="1" dirty="0">
                <a:effectLst/>
                <a:latin typeface="Calibri" panose="020F0502020204030204" pitchFamily="34" charset="0"/>
                <a:ea typeface="Calibri" panose="020F0502020204030204" pitchFamily="34" charset="0"/>
                <a:cs typeface="Calibri" panose="020F0502020204030204" pitchFamily="34" charset="0"/>
              </a:rPr>
              <a:t>Cash, Credit card and </a:t>
            </a:r>
            <a:r>
              <a:rPr lang="en-US" sz="1400" b="1" dirty="0" err="1">
                <a:effectLst/>
                <a:latin typeface="Calibri" panose="020F0502020204030204" pitchFamily="34" charset="0"/>
                <a:ea typeface="Calibri" panose="020F0502020204030204" pitchFamily="34" charset="0"/>
                <a:cs typeface="Calibri" panose="020F0502020204030204" pitchFamily="34" charset="0"/>
              </a:rPr>
              <a:t>Ewallet</a:t>
            </a:r>
            <a:r>
              <a:rPr lang="en-US" sz="1400" b="1" dirty="0">
                <a:effectLst/>
                <a:latin typeface="Calibri" panose="020F0502020204030204" pitchFamily="34" charset="0"/>
                <a:ea typeface="Calibri" panose="020F0502020204030204" pitchFamily="34" charset="0"/>
                <a:cs typeface="Calibri" panose="020F0502020204030204" pitchFamily="34" charset="0"/>
              </a:rPr>
              <a:t>), and customer categories( Member and Normal</a:t>
            </a:r>
            <a:r>
              <a:rPr lang="en-US" sz="1100" dirty="0">
                <a:effectLst/>
                <a:latin typeface="Calibri" panose="020F0502020204030204" pitchFamily="34" charset="0"/>
                <a:ea typeface="Calibri" panose="020F0502020204030204" pitchFamily="34" charset="0"/>
                <a:cs typeface="Calibri" panose="020F0502020204030204" pitchFamily="34" charset="0"/>
              </a:rPr>
              <a:t>) </a:t>
            </a:r>
            <a:r>
              <a:rPr lang="en-US" sz="1400" b="1" dirty="0">
                <a:effectLst/>
                <a:latin typeface="Calibri" panose="020F0502020204030204" pitchFamily="34" charset="0"/>
                <a:ea typeface="Calibri" panose="020F0502020204030204" pitchFamily="34" charset="0"/>
                <a:cs typeface="Calibri" panose="020F0502020204030204" pitchFamily="34" charset="0"/>
              </a:rPr>
              <a:t>. </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However, management faces challenges in understanding key sales drivers and identifying performance gaps across locations and customer groups.</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Despite having consistent transaction records, the organization lacks a comprehensive analytical view that connects sales trends, customer behavior, and payment preferences..</a:t>
            </a:r>
            <a:endParaRPr lang="en-US" sz="12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The company needs to answer critical business questions such as:</a:t>
            </a:r>
            <a:endParaRPr lang="en-US" sz="12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Which city or branch generates the highest sales and gross income?</a:t>
            </a:r>
            <a:endParaRPr lang="en-US" sz="12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How do sales vary between customer types (Members vs Normal) and gender groups?</a:t>
            </a:r>
            <a:endParaRPr lang="en-US" sz="12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What are the most profitable product lines and most preferred payment methods?</a:t>
            </a:r>
            <a:endParaRPr lang="en-US" sz="12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At what time of the day and on which days are sales highest</a:t>
            </a:r>
            <a:endParaRPr lang="en-US" sz="1200" dirty="0">
              <a:latin typeface="Calibri" panose="020F0502020204030204" pitchFamily="34" charset="0"/>
              <a:ea typeface="Calibri" panose="020F0502020204030204" pitchFamily="34" charset="0"/>
              <a:cs typeface="Calibri" panose="020F0502020204030204" pitchFamily="34" charset="0"/>
            </a:endParaRPr>
          </a:p>
          <a:p>
            <a:endParaRPr lang="en-US" sz="1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EC4B0B2-8037-25D9-3FBB-8B1DEA2B5A05}"/>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3969049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AB2F5D92-E71F-274E-A538-7C2094E9BD93}"/>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E2A80125-9C1D-BC6F-76A5-2F737978F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9D61133B-949A-920F-E772-7CB19BC2D157}"/>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C47426B0-5978-1F98-7ACC-7A8749B9012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451A7078-A16A-8504-D3B0-5ECBB53481A3}"/>
              </a:ext>
            </a:extLst>
          </p:cNvPr>
          <p:cNvSpPr>
            <a:spLocks noGrp="1"/>
          </p:cNvSpPr>
          <p:nvPr>
            <p:ph type="title"/>
          </p:nvPr>
        </p:nvSpPr>
        <p:spPr>
          <a:xfrm>
            <a:off x="7084483" y="385762"/>
            <a:ext cx="4538124" cy="542926"/>
          </a:xfrm>
        </p:spPr>
        <p:txBody>
          <a:bodyPr anchor="t">
            <a:normAutofit fontScale="90000"/>
          </a:bodyPr>
          <a:lstStyle/>
          <a:p>
            <a:r>
              <a:rPr lang="en-US" sz="4000" b="1" dirty="0">
                <a:effectLst/>
              </a:rPr>
              <a:t>Setting Clear Metrics</a:t>
            </a:r>
            <a:br>
              <a:rPr lang="en-US" sz="4000" dirty="0"/>
            </a:br>
            <a:br>
              <a:rPr lang="en-US" sz="4000" dirty="0">
                <a:latin typeface="Calibri" panose="020F0502020204030204" pitchFamily="34" charset="0"/>
                <a:ea typeface="Calibri" panose="020F0502020204030204" pitchFamily="34" charset="0"/>
                <a:cs typeface="Calibri" panose="020F0502020204030204" pitchFamily="34" charset="0"/>
              </a:rPr>
            </a:br>
            <a:br>
              <a:rPr lang="en-US" sz="4000" dirty="0"/>
            </a:br>
            <a:endParaRPr lang="en-US" sz="4000" dirty="0"/>
          </a:p>
        </p:txBody>
      </p:sp>
      <p:sp>
        <p:nvSpPr>
          <p:cNvPr id="24" name="Content Placeholder 2">
            <a:extLst>
              <a:ext uri="{FF2B5EF4-FFF2-40B4-BE49-F238E27FC236}">
                <a16:creationId xmlns:a16="http://schemas.microsoft.com/office/drawing/2014/main" id="{BF33F0E5-A5C9-4824-822E-5AE3CE7F4829}"/>
              </a:ext>
            </a:extLst>
          </p:cNvPr>
          <p:cNvSpPr>
            <a:spLocks noGrp="1"/>
          </p:cNvSpPr>
          <p:nvPr>
            <p:ph idx="1"/>
          </p:nvPr>
        </p:nvSpPr>
        <p:spPr>
          <a:xfrm>
            <a:off x="6849377" y="928688"/>
            <a:ext cx="5333999" cy="5929311"/>
          </a:xfrm>
        </p:spPr>
        <p:txBody>
          <a:bodyPr anchor="t">
            <a:noAutofit/>
          </a:bodyPr>
          <a:lstStyle/>
          <a:p>
            <a:r>
              <a:rPr lang="en-US" sz="2400" b="1" dirty="0">
                <a:effectLst/>
              </a:rPr>
              <a:t> A dedicated Measure Table was created in Power BI using DAX to compute KPIs such as:</a:t>
            </a:r>
            <a:endParaRPr lang="en-US" dirty="0"/>
          </a:p>
          <a:p>
            <a:pPr lvl="1"/>
            <a:r>
              <a:rPr lang="en-US" sz="2400" b="1" dirty="0">
                <a:effectLst/>
              </a:rPr>
              <a:t>Total Revenue</a:t>
            </a:r>
            <a:endParaRPr lang="en-US" dirty="0"/>
          </a:p>
          <a:p>
            <a:pPr lvl="1"/>
            <a:r>
              <a:rPr lang="en-US" sz="2400" b="1" dirty="0">
                <a:effectLst/>
              </a:rPr>
              <a:t>Total Gross Income</a:t>
            </a:r>
            <a:endParaRPr lang="en-US" dirty="0"/>
          </a:p>
          <a:p>
            <a:pPr lvl="1"/>
            <a:r>
              <a:rPr lang="en-US" sz="2400" b="1" dirty="0">
                <a:effectLst/>
              </a:rPr>
              <a:t>Total Orders</a:t>
            </a:r>
            <a:endParaRPr lang="en-US" dirty="0"/>
          </a:p>
          <a:p>
            <a:pPr lvl="1"/>
            <a:r>
              <a:rPr lang="en-US" sz="2400" b="1" dirty="0">
                <a:effectLst/>
              </a:rPr>
              <a:t>Average Rating</a:t>
            </a:r>
            <a:endParaRPr lang="en-US" dirty="0"/>
          </a:p>
          <a:p>
            <a:pPr lvl="1"/>
            <a:r>
              <a:rPr lang="en-US" sz="2400" b="1" dirty="0">
                <a:effectLst/>
              </a:rPr>
              <a:t>Total Number of customer</a:t>
            </a:r>
            <a:endParaRPr lang="en-US" dirty="0"/>
          </a:p>
          <a:p>
            <a:endParaRPr lang="en-US" sz="1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7C39A1A-D5E5-E27E-040C-1359A08BAA04}"/>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1446576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A34B0B24-72EE-C2E5-BDD3-00223CBA5AA2}"/>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444F39AA-A741-4ED3-9460-4A881287A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21ACA7B6-716C-3CED-8818-D5F1C4A2F8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5A7CA533-8B9A-AC1B-3D44-234E100325D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14D32469-6385-3FCF-04D4-71AE4EEB6D31}"/>
              </a:ext>
            </a:extLst>
          </p:cNvPr>
          <p:cNvSpPr>
            <a:spLocks noGrp="1"/>
          </p:cNvSpPr>
          <p:nvPr>
            <p:ph type="title"/>
          </p:nvPr>
        </p:nvSpPr>
        <p:spPr>
          <a:xfrm>
            <a:off x="7084483" y="385762"/>
            <a:ext cx="4538124" cy="542926"/>
          </a:xfrm>
        </p:spPr>
        <p:txBody>
          <a:bodyPr anchor="t">
            <a:normAutofit fontScale="90000"/>
          </a:bodyPr>
          <a:lstStyle/>
          <a:p>
            <a:r>
              <a:rPr lang="en-US" sz="4000" b="1" dirty="0">
                <a:effectLst/>
              </a:rPr>
              <a:t> </a:t>
            </a:r>
            <a:r>
              <a:rPr lang="en-US" sz="4000" b="1" dirty="0">
                <a:effectLst/>
                <a:latin typeface="Calibri" panose="020F0502020204030204" pitchFamily="34" charset="0"/>
                <a:ea typeface="Calibri" panose="020F0502020204030204" pitchFamily="34" charset="0"/>
                <a:cs typeface="Calibri" panose="020F0502020204030204" pitchFamily="34" charset="0"/>
              </a:rPr>
              <a:t>Gathering</a:t>
            </a:r>
            <a:r>
              <a:rPr lang="en-US" sz="4000" b="1" dirty="0">
                <a:effectLst/>
              </a:rPr>
              <a:t> the Data</a:t>
            </a:r>
            <a:br>
              <a:rPr lang="en-US" sz="1400" dirty="0"/>
            </a:br>
            <a:br>
              <a:rPr lang="en-US" sz="4000" dirty="0"/>
            </a:br>
            <a:br>
              <a:rPr lang="en-US" sz="4000" dirty="0">
                <a:latin typeface="Calibri" panose="020F0502020204030204" pitchFamily="34" charset="0"/>
                <a:ea typeface="Calibri" panose="020F0502020204030204" pitchFamily="34" charset="0"/>
                <a:cs typeface="Calibri" panose="020F0502020204030204" pitchFamily="34" charset="0"/>
              </a:rPr>
            </a:br>
            <a:br>
              <a:rPr lang="en-US" sz="4000" dirty="0"/>
            </a:br>
            <a:endParaRPr lang="en-US" sz="4000" dirty="0"/>
          </a:p>
        </p:txBody>
      </p:sp>
      <p:sp>
        <p:nvSpPr>
          <p:cNvPr id="24" name="Content Placeholder 2">
            <a:extLst>
              <a:ext uri="{FF2B5EF4-FFF2-40B4-BE49-F238E27FC236}">
                <a16:creationId xmlns:a16="http://schemas.microsoft.com/office/drawing/2014/main" id="{199D6C10-3151-6B39-E038-10114ECAEE5C}"/>
              </a:ext>
            </a:extLst>
          </p:cNvPr>
          <p:cNvSpPr>
            <a:spLocks noGrp="1"/>
          </p:cNvSpPr>
          <p:nvPr>
            <p:ph idx="1"/>
          </p:nvPr>
        </p:nvSpPr>
        <p:spPr>
          <a:xfrm>
            <a:off x="7084483" y="1143000"/>
            <a:ext cx="5002744" cy="5029200"/>
          </a:xfrm>
        </p:spPr>
        <p:txBody>
          <a:bodyPr anchor="t">
            <a:noAutofit/>
          </a:bodyPr>
          <a:lstStyle/>
          <a:p>
            <a:endParaRPr lang="en-US" sz="9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2000" b="1" dirty="0">
                <a:effectLst/>
                <a:latin typeface="Calibri" panose="020F0502020204030204" pitchFamily="34" charset="0"/>
                <a:ea typeface="Calibri" panose="020F0502020204030204" pitchFamily="34" charset="0"/>
                <a:cs typeface="Calibri" panose="020F0502020204030204" pitchFamily="34" charset="0"/>
              </a:rPr>
              <a:t>The dataset used for this analysis was provided as part of an assessment project for Women Techsters Fellowship, Class of 2026, under the supervision of our tutor, Ms. Bolatito </a:t>
            </a:r>
            <a:r>
              <a:rPr lang="en-US" sz="2000" b="1" dirty="0" err="1">
                <a:effectLst/>
                <a:latin typeface="Calibri" panose="020F0502020204030204" pitchFamily="34" charset="0"/>
                <a:ea typeface="Calibri" panose="020F0502020204030204" pitchFamily="34" charset="0"/>
                <a:cs typeface="Calibri" panose="020F0502020204030204" pitchFamily="34" charset="0"/>
              </a:rPr>
              <a:t>Sarumi</a:t>
            </a:r>
            <a:r>
              <a:rPr lang="en-US" sz="2000" b="1" dirty="0">
                <a:effectLst/>
                <a:latin typeface="Calibri" panose="020F0502020204030204" pitchFamily="34" charset="0"/>
                <a:ea typeface="Calibri" panose="020F0502020204030204" pitchFamily="34" charset="0"/>
                <a:cs typeface="Calibri" panose="020F0502020204030204" pitchFamily="34" charset="0"/>
              </a:rPr>
              <a:t>. The dataset was extracted from the ZIP folder, renamed as Assignment Project, imported into Power BI using </a:t>
            </a:r>
            <a:r>
              <a:rPr lang="en-US" sz="2000" b="1" i="1" dirty="0">
                <a:effectLst/>
                <a:latin typeface="Calibri" panose="020F0502020204030204" pitchFamily="34" charset="0"/>
                <a:ea typeface="Calibri" panose="020F0502020204030204" pitchFamily="34" charset="0"/>
                <a:cs typeface="Calibri" panose="020F0502020204030204" pitchFamily="34" charset="0"/>
              </a:rPr>
              <a:t>Get Data from </a:t>
            </a:r>
            <a:r>
              <a:rPr lang="en-US" sz="2000" b="1" i="1" dirty="0" err="1">
                <a:effectLst/>
                <a:latin typeface="Calibri" panose="020F0502020204030204" pitchFamily="34" charset="0"/>
                <a:ea typeface="Calibri" panose="020F0502020204030204" pitchFamily="34" charset="0"/>
                <a:cs typeface="Calibri" panose="020F0502020204030204" pitchFamily="34" charset="0"/>
              </a:rPr>
              <a:t>powerbi</a:t>
            </a:r>
            <a:r>
              <a:rPr lang="en-US" sz="2000" b="1" dirty="0">
                <a:effectLst/>
                <a:latin typeface="Calibri" panose="020F0502020204030204" pitchFamily="34" charset="0"/>
                <a:ea typeface="Calibri" panose="020F0502020204030204" pitchFamily="34" charset="0"/>
                <a:cs typeface="Calibri" panose="020F0502020204030204" pitchFamily="34" charset="0"/>
              </a:rPr>
              <a:t>, and transformed into structured queries for cleaning.</a:t>
            </a:r>
            <a:endParaRPr lang="en-US" sz="900" dirty="0">
              <a:latin typeface="Calibri" panose="020F0502020204030204" pitchFamily="34" charset="0"/>
              <a:ea typeface="Calibri" panose="020F0502020204030204" pitchFamily="34" charset="0"/>
              <a:cs typeface="Calibri" panose="020F0502020204030204" pitchFamily="34" charset="0"/>
            </a:endParaRPr>
          </a:p>
          <a:p>
            <a:endParaRPr lang="en-US" sz="9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53083D7A-3186-CAF6-2E57-8172BFB93358}"/>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3364399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E7A2C47C-66A5-6C75-C5FA-DFCB3E8A5B6D}"/>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436E553D-25CB-0ED0-876C-F6E09DBA8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F01D79E8-9114-CA16-B914-7DC51BB5C2E8}"/>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8D4F2797-85D3-F477-6894-3BD646CA7A2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10AD3051-B70E-970F-63C3-96ACEFCE2E2A}"/>
              </a:ext>
            </a:extLst>
          </p:cNvPr>
          <p:cNvSpPr>
            <a:spLocks noGrp="1"/>
          </p:cNvSpPr>
          <p:nvPr>
            <p:ph type="title"/>
          </p:nvPr>
        </p:nvSpPr>
        <p:spPr>
          <a:xfrm>
            <a:off x="7084483" y="142874"/>
            <a:ext cx="4538124" cy="542926"/>
          </a:xfrm>
        </p:spPr>
        <p:txBody>
          <a:bodyPr anchor="t">
            <a:noAutofit/>
          </a:bodyPr>
          <a:lstStyle/>
          <a:p>
            <a:r>
              <a:rPr lang="en-US" sz="3600" b="1" dirty="0">
                <a:effectLst/>
                <a:latin typeface="Calibri" panose="020F0502020204030204" pitchFamily="34" charset="0"/>
                <a:ea typeface="Calibri" panose="020F0502020204030204" pitchFamily="34" charset="0"/>
                <a:cs typeface="Calibri" panose="020F0502020204030204" pitchFamily="34" charset="0"/>
              </a:rPr>
              <a:t> Cleaning the Data</a:t>
            </a: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
        <p:nvSpPr>
          <p:cNvPr id="24" name="Content Placeholder 2">
            <a:extLst>
              <a:ext uri="{FF2B5EF4-FFF2-40B4-BE49-F238E27FC236}">
                <a16:creationId xmlns:a16="http://schemas.microsoft.com/office/drawing/2014/main" id="{08F11479-A69A-28B4-A99A-8F74F1FBA89F}"/>
              </a:ext>
            </a:extLst>
          </p:cNvPr>
          <p:cNvSpPr>
            <a:spLocks noGrp="1"/>
          </p:cNvSpPr>
          <p:nvPr>
            <p:ph idx="1"/>
          </p:nvPr>
        </p:nvSpPr>
        <p:spPr>
          <a:xfrm>
            <a:off x="6849377" y="1143000"/>
            <a:ext cx="5237850" cy="5029200"/>
          </a:xfrm>
        </p:spPr>
        <p:txBody>
          <a:bodyPr anchor="t">
            <a:noAutofit/>
          </a:bodyPr>
          <a:lstStyle/>
          <a:p>
            <a:pPr marL="36900" indent="0">
              <a:buNone/>
            </a:pPr>
            <a:r>
              <a:rPr lang="en-US" sz="1600" b="1" dirty="0">
                <a:effectLst/>
                <a:latin typeface="Calibri" panose="020F0502020204030204" pitchFamily="34" charset="0"/>
                <a:ea typeface="Calibri" panose="020F0502020204030204" pitchFamily="34" charset="0"/>
                <a:cs typeface="Calibri" panose="020F0502020204030204" pitchFamily="34" charset="0"/>
              </a:rPr>
              <a:t> Data cleaning included:</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Promoting first row to headers in Sales, Customer and Product tables</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Removing duplicate transactions using Invoice ID</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Checking for consistency and column uniformity</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Validating Quantity column — no errors found, 100% valid</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Creating a Payment Dimension Table</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Applying Fact-Dimension naming standards</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Adding conditional time-of-day column for order classification</a:t>
            </a:r>
            <a:endParaRPr lang="en-US" sz="1600" dirty="0">
              <a:latin typeface="Calibri" panose="020F0502020204030204" pitchFamily="34" charset="0"/>
              <a:ea typeface="Calibri" panose="020F0502020204030204" pitchFamily="34" charset="0"/>
              <a:cs typeface="Calibri" panose="020F0502020204030204" pitchFamily="34" charset="0"/>
            </a:endParaRPr>
          </a:p>
          <a:p>
            <a:pPr lvl="1"/>
            <a:r>
              <a:rPr lang="en-US" sz="1600" b="1" dirty="0">
                <a:effectLst/>
                <a:latin typeface="Calibri" panose="020F0502020204030204" pitchFamily="34" charset="0"/>
                <a:ea typeface="Calibri" panose="020F0502020204030204" pitchFamily="34" charset="0"/>
                <a:cs typeface="Calibri" panose="020F0502020204030204" pitchFamily="34" charset="0"/>
              </a:rPr>
              <a:t>Creating relationships in Model View before final visualization in Report View</a:t>
            </a:r>
            <a:endParaRPr lang="en-US" sz="1600" dirty="0">
              <a:latin typeface="Calibri" panose="020F0502020204030204" pitchFamily="34" charset="0"/>
              <a:ea typeface="Calibri" panose="020F0502020204030204" pitchFamily="34" charset="0"/>
              <a:cs typeface="Calibri" panose="020F0502020204030204" pitchFamily="34" charset="0"/>
            </a:endParaRPr>
          </a:p>
          <a:p>
            <a:endParaRPr lang="en-US" sz="6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E8298B1-2950-EE00-592A-D7B8DBB008A8}"/>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1877237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4B5FDED8-5A80-699A-78CE-15E9A3891EBD}"/>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394D3B74-EFA1-FBF7-ABF4-17ECF19E2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19632EB2-9453-A513-9AC3-09268EE1A0CD}"/>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F228521F-3AF2-1DBB-A1F2-8A4A3430B65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ED2F7254-06CF-F67C-D4F0-3CDF8AA8382D}"/>
              </a:ext>
            </a:extLst>
          </p:cNvPr>
          <p:cNvSpPr>
            <a:spLocks noGrp="1"/>
          </p:cNvSpPr>
          <p:nvPr>
            <p:ph type="title"/>
          </p:nvPr>
        </p:nvSpPr>
        <p:spPr>
          <a:xfrm>
            <a:off x="7084483" y="142874"/>
            <a:ext cx="4902730" cy="542926"/>
          </a:xfrm>
        </p:spPr>
        <p:txBody>
          <a:bodyPr anchor="t">
            <a:noAutofit/>
          </a:bodyPr>
          <a:lstStyle/>
          <a:p>
            <a:r>
              <a:rPr lang="en-US" sz="2800" b="1" dirty="0">
                <a:effectLst/>
                <a:latin typeface="Calibri" panose="020F0502020204030204" pitchFamily="34" charset="0"/>
                <a:ea typeface="Calibri" panose="020F0502020204030204" pitchFamily="34" charset="0"/>
                <a:cs typeface="Calibri" panose="020F0502020204030204" pitchFamily="34" charset="0"/>
              </a:rPr>
              <a:t> Data Analysis and Key Insights</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4" name="Content Placeholder 2">
            <a:extLst>
              <a:ext uri="{FF2B5EF4-FFF2-40B4-BE49-F238E27FC236}">
                <a16:creationId xmlns:a16="http://schemas.microsoft.com/office/drawing/2014/main" id="{EB04F4C4-CB73-C6E6-03D9-335F0A1C55D2}"/>
              </a:ext>
            </a:extLst>
          </p:cNvPr>
          <p:cNvSpPr>
            <a:spLocks noGrp="1"/>
          </p:cNvSpPr>
          <p:nvPr>
            <p:ph idx="1"/>
          </p:nvPr>
        </p:nvSpPr>
        <p:spPr>
          <a:xfrm>
            <a:off x="6864537" y="557212"/>
            <a:ext cx="5342622" cy="6300788"/>
          </a:xfrm>
        </p:spPr>
        <p:txBody>
          <a:bodyPr anchor="t">
            <a:noAutofit/>
          </a:bodyPr>
          <a:lstStyle/>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Overall Performance</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Total Revenue: 323,000</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Total Gross Income: 15,000</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Total Orders: 5,510</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Average Rating: 6.97</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Branch / City Performance</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City with highest total sales: Naypyitaw (111,000)</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Followed by Yangon (106,000) and Mandalay (196)</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All cities show increased performance in January and March</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Customer Segmentation</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Member customers generated 164,223 in sales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Normal customers generated 158,743</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Female customers made 2,869 purchases, slightly higher than Male with 2,641</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 → Female Members appear to be the most valuable customer group.</a:t>
            </a: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Product Line Performance</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Food &amp; Beverages had the highest revenue: 56,145</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Fashion Accessories received the highest customer rating: 1,251</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2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978F5951-E056-A4F0-75E3-460DFE73FC76}"/>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2412214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39F70846-BE7D-DE08-ECAA-AC87D969875A}"/>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47013EDD-9D1A-B558-7A98-2F454AE948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315B9057-E854-2A14-ECC7-43E83E8C32E1}"/>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C0E1E246-5B9B-1640-E149-0E50AEEB42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60C12ACC-62D8-CC47-F85E-AF6CC2BB5D7F}"/>
              </a:ext>
            </a:extLst>
          </p:cNvPr>
          <p:cNvSpPr>
            <a:spLocks noGrp="1"/>
          </p:cNvSpPr>
          <p:nvPr>
            <p:ph type="title"/>
          </p:nvPr>
        </p:nvSpPr>
        <p:spPr>
          <a:xfrm>
            <a:off x="7084483" y="142874"/>
            <a:ext cx="4902730" cy="542926"/>
          </a:xfrm>
        </p:spPr>
        <p:txBody>
          <a:bodyPr anchor="t">
            <a:noAutofit/>
          </a:bodyPr>
          <a:lstStyle/>
          <a:p>
            <a:r>
              <a:rPr lang="en-US" sz="2800" b="1" dirty="0">
                <a:effectLst/>
                <a:latin typeface="Calibri" panose="020F0502020204030204" pitchFamily="34" charset="0"/>
                <a:ea typeface="Calibri" panose="020F0502020204030204" pitchFamily="34" charset="0"/>
                <a:cs typeface="Calibri" panose="020F0502020204030204" pitchFamily="34" charset="0"/>
              </a:rPr>
              <a:t> Data Analysis 2</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4" name="Content Placeholder 2">
            <a:extLst>
              <a:ext uri="{FF2B5EF4-FFF2-40B4-BE49-F238E27FC236}">
                <a16:creationId xmlns:a16="http://schemas.microsoft.com/office/drawing/2014/main" id="{6C7CC3D0-EC0C-1A4E-4B59-2FA01E95A0E4}"/>
              </a:ext>
            </a:extLst>
          </p:cNvPr>
          <p:cNvSpPr>
            <a:spLocks noGrp="1"/>
          </p:cNvSpPr>
          <p:nvPr>
            <p:ph idx="1"/>
          </p:nvPr>
        </p:nvSpPr>
        <p:spPr>
          <a:xfrm>
            <a:off x="6849377" y="685799"/>
            <a:ext cx="5342622" cy="6172199"/>
          </a:xfrm>
        </p:spPr>
        <p:txBody>
          <a:bodyPr anchor="t">
            <a:noAutofit/>
          </a:bodyPr>
          <a:lstStyle/>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Payment Method Trends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Most preferred: E-wallet with 345 customers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Followed closely by Cash (344) and Credit Card (311)</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450000" lvl="1" indent="0">
              <a:buNone/>
            </a:pPr>
            <a:r>
              <a:rPr lang="en-US" sz="1600" b="1" dirty="0">
                <a:effectLst/>
                <a:latin typeface="Calibri" panose="020F0502020204030204" pitchFamily="34" charset="0"/>
                <a:ea typeface="Calibri" panose="020F0502020204030204" pitchFamily="34" charset="0"/>
                <a:cs typeface="Calibri" panose="020F0502020204030204" pitchFamily="34" charset="0"/>
              </a:rPr>
              <a:t> → Digital payments are rising across all branches.</a:t>
            </a:r>
            <a:endParaRPr lang="en-US" sz="1600"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Sales Trends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Best performing month: March – 25,771</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Peak sales hour: 2 PM – 3 PM</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450000" lvl="1" indent="0">
              <a:buNone/>
            </a:pPr>
            <a:r>
              <a:rPr lang="en-US" sz="1600" b="1" dirty="0">
                <a:effectLst/>
                <a:latin typeface="Calibri" panose="020F0502020204030204" pitchFamily="34" charset="0"/>
                <a:ea typeface="Calibri" panose="020F0502020204030204" pitchFamily="34" charset="0"/>
                <a:cs typeface="Calibri" panose="020F0502020204030204" pitchFamily="34" charset="0"/>
              </a:rPr>
              <a:t> → Busiest day: Saturday</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Daily Orders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Highest: Saturday (919 orders)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Busy across weekdays, but slower on Monday (638 orders</a:t>
            </a:r>
          </a:p>
          <a:p>
            <a:pPr marL="450000" lvl="1" indent="0">
              <a:buNone/>
            </a:pPr>
            <a:r>
              <a:rPr lang="en-US" sz="1600" b="1" dirty="0">
                <a:effectLst/>
                <a:latin typeface="Calibri" panose="020F0502020204030204" pitchFamily="34" charset="0"/>
                <a:ea typeface="Calibri" panose="020F0502020204030204" pitchFamily="34" charset="0"/>
                <a:cs typeface="Calibri" panose="020F0502020204030204" pitchFamily="34" charset="0"/>
              </a:rPr>
              <a:t>→ Evening and afternoon hours show most transactions</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 Time of Day Sales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Morning (9am–12noon): 61,799</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Afternoon (12noon–4pm): 122,797</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Evening (4pm–9pm): 138,371</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450000" lvl="1" indent="0">
              <a:buNone/>
            </a:pPr>
            <a:r>
              <a:rPr lang="en-US" sz="1600" b="1" dirty="0">
                <a:effectLst/>
                <a:latin typeface="Calibri" panose="020F0502020204030204" pitchFamily="34" charset="0"/>
                <a:ea typeface="Calibri" panose="020F0502020204030204" pitchFamily="34" charset="0"/>
                <a:cs typeface="Calibri" panose="020F0502020204030204" pitchFamily="34" charset="0"/>
              </a:rPr>
              <a:t> → Evening is the strongest shopping period.</a:t>
            </a:r>
            <a:endParaRPr lang="en-US" sz="16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1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BC6BEEB-1EEB-A73F-F10D-CF5BA123708F}"/>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2731450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72D3CCC9-CF3A-BE21-3FC2-EA665A321994}"/>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5F0004D9-98A1-0380-AD2B-4ABAA8A24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606A9AEF-248C-292F-7A1A-D99460E41DD0}"/>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E3AA98FA-9603-3853-0F0B-E5448B185A6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25CBF8E0-F064-1AAF-488D-91863DF3CC41}"/>
              </a:ext>
            </a:extLst>
          </p:cNvPr>
          <p:cNvSpPr>
            <a:spLocks noGrp="1"/>
          </p:cNvSpPr>
          <p:nvPr>
            <p:ph type="title"/>
          </p:nvPr>
        </p:nvSpPr>
        <p:spPr>
          <a:xfrm>
            <a:off x="7084483" y="142874"/>
            <a:ext cx="4902730" cy="542926"/>
          </a:xfrm>
        </p:spPr>
        <p:txBody>
          <a:bodyPr anchor="t">
            <a:noAutofit/>
          </a:bodyPr>
          <a:lstStyle/>
          <a:p>
            <a:r>
              <a:rPr lang="en-US" sz="2800" b="1" dirty="0">
                <a:effectLst/>
                <a:latin typeface="Calibri" panose="020F0502020204030204" pitchFamily="34" charset="0"/>
                <a:ea typeface="Calibri" panose="020F0502020204030204" pitchFamily="34" charset="0"/>
                <a:cs typeface="Calibri" panose="020F0502020204030204" pitchFamily="34" charset="0"/>
              </a:rPr>
              <a:t> </a:t>
            </a:r>
            <a:r>
              <a:rPr lang="en-US" sz="3600" b="1" dirty="0">
                <a:effectLst/>
                <a:latin typeface="Calibri" panose="020F0502020204030204" pitchFamily="34" charset="0"/>
                <a:ea typeface="Calibri" panose="020F0502020204030204" pitchFamily="34" charset="0"/>
                <a:cs typeface="Calibri" panose="020F0502020204030204" pitchFamily="34" charset="0"/>
              </a:rPr>
              <a:t>Summary</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4" name="Content Placeholder 2">
            <a:extLst>
              <a:ext uri="{FF2B5EF4-FFF2-40B4-BE49-F238E27FC236}">
                <a16:creationId xmlns:a16="http://schemas.microsoft.com/office/drawing/2014/main" id="{D85DD812-F3AF-6EE7-0F6F-766B07F90149}"/>
              </a:ext>
            </a:extLst>
          </p:cNvPr>
          <p:cNvSpPr>
            <a:spLocks noGrp="1"/>
          </p:cNvSpPr>
          <p:nvPr>
            <p:ph idx="1"/>
          </p:nvPr>
        </p:nvSpPr>
        <p:spPr>
          <a:xfrm>
            <a:off x="6849377" y="685799"/>
            <a:ext cx="5342622" cy="6172199"/>
          </a:xfrm>
        </p:spPr>
        <p:txBody>
          <a:bodyPr anchor="t">
            <a:noAutofit/>
          </a:bodyPr>
          <a:lstStyle/>
          <a:p>
            <a:pPr marL="36900" indent="0">
              <a:buNone/>
            </a:pPr>
            <a:r>
              <a:rPr lang="en-US" sz="1400" b="1" dirty="0">
                <a:effectLst/>
                <a:latin typeface="Calibri" panose="020F0502020204030204" pitchFamily="34" charset="0"/>
                <a:ea typeface="Calibri" panose="020F0502020204030204" pitchFamily="34" charset="0"/>
                <a:cs typeface="Calibri" panose="020F0502020204030204" pitchFamily="34" charset="0"/>
              </a:rPr>
              <a:t>This supermarket successfully generated 323k revenue with 15k gross income from 5510 orders.</a:t>
            </a:r>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dirty="0">
                <a:effectLst/>
                <a:latin typeface="Calibri" panose="020F0502020204030204" pitchFamily="34" charset="0"/>
                <a:ea typeface="Calibri" panose="020F0502020204030204" pitchFamily="34" charset="0"/>
                <a:cs typeface="Calibri" panose="020F0502020204030204" pitchFamily="34" charset="0"/>
              </a:rPr>
              <a:t> Sales are strongest in:</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Evenings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Weekends</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March</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 Naypyitaw is the top-performing city, with members and female customers contributing the highest revenue.</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 Food &amp; Beverages are the most profitable products and drive the most revenue while Fashion Accessories delight customers the most and E-wallet is the most preferred payment method, meaning Digital payments are becoming more popular.</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The supermarket has strong performance in both revenue and customer engagement.</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 Naypyitaw leads in overall sales, Members slightly outperform Normal customers, and Women contribute more orders than men.</a:t>
            </a:r>
            <a:endParaRPr lang="en-US" sz="1400" dirty="0">
              <a:latin typeface="Calibri" panose="020F0502020204030204" pitchFamily="34" charset="0"/>
              <a:ea typeface="Calibri" panose="020F0502020204030204" pitchFamily="34" charset="0"/>
              <a:cs typeface="Calibri" panose="020F0502020204030204" pitchFamily="34" charset="0"/>
            </a:endParaRPr>
          </a:p>
          <a:p>
            <a:pPr lvl="1"/>
            <a:r>
              <a:rPr lang="en-US" sz="1400" b="1" dirty="0">
                <a:effectLst/>
                <a:latin typeface="Calibri" panose="020F0502020204030204" pitchFamily="34" charset="0"/>
                <a:ea typeface="Calibri" panose="020F0502020204030204" pitchFamily="34" charset="0"/>
                <a:cs typeface="Calibri" panose="020F0502020204030204" pitchFamily="34" charset="0"/>
              </a:rPr>
              <a:t> Sales peak in the evening, especially on Saturdays.</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7F0E1663-D2D2-8158-15FA-7D040F4DE897}"/>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6888555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781B2671-8D0A-1438-1C9E-A881B0D5F4E4}"/>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2397CAA2-093B-8ECB-C8F6-0FAA8B751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65934C94-39B6-B4EE-1E64-BF64821BC868}"/>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0236ACDB-D4B4-ED2D-FDEA-6C0543DBBE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075BE3F2-96F9-6AF7-E4BC-B8A93790CD30}"/>
              </a:ext>
            </a:extLst>
          </p:cNvPr>
          <p:cNvSpPr>
            <a:spLocks noGrp="1"/>
          </p:cNvSpPr>
          <p:nvPr>
            <p:ph type="title"/>
          </p:nvPr>
        </p:nvSpPr>
        <p:spPr>
          <a:xfrm>
            <a:off x="7019025" y="114301"/>
            <a:ext cx="4902730" cy="428626"/>
          </a:xfrm>
        </p:spPr>
        <p:txBody>
          <a:bodyPr anchor="t">
            <a:noAutofit/>
          </a:bodyPr>
          <a:lstStyle/>
          <a:p>
            <a:r>
              <a:rPr lang="en-US" sz="2800" b="1" dirty="0">
                <a:effectLst/>
                <a:latin typeface="Calibri" panose="020F0502020204030204" pitchFamily="34" charset="0"/>
                <a:ea typeface="Calibri" panose="020F0502020204030204" pitchFamily="34" charset="0"/>
                <a:cs typeface="Calibri" panose="020F0502020204030204" pitchFamily="34" charset="0"/>
              </a:rPr>
              <a:t> Recommendations </a:t>
            </a:r>
            <a:br>
              <a:rPr lang="en-US" sz="2800" dirty="0">
                <a:latin typeface="Calibri" panose="020F0502020204030204" pitchFamily="34" charset="0"/>
                <a:ea typeface="Calibri" panose="020F0502020204030204" pitchFamily="34" charset="0"/>
                <a:cs typeface="Calibri" panose="020F0502020204030204" pitchFamily="34" charset="0"/>
              </a:rPr>
            </a:br>
            <a:r>
              <a:rPr lang="en-US" sz="2800" b="1" dirty="0">
                <a:effectLst/>
                <a:latin typeface="Calibri" panose="020F0502020204030204" pitchFamily="34" charset="0"/>
                <a:ea typeface="Calibri" panose="020F0502020204030204" pitchFamily="34" charset="0"/>
                <a:cs typeface="Calibri" panose="020F0502020204030204" pitchFamily="34" charset="0"/>
              </a:rPr>
              <a:t> </a:t>
            </a: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br>
              <a:rPr lang="en-US" sz="2800" dirty="0">
                <a:latin typeface="Calibri" panose="020F0502020204030204" pitchFamily="34" charset="0"/>
                <a:ea typeface="Calibri" panose="020F0502020204030204" pitchFamily="34" charset="0"/>
                <a:cs typeface="Calibri" panose="020F0502020204030204" pitchFamily="34" charset="0"/>
              </a:rPr>
            </a:b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
        <p:nvSpPr>
          <p:cNvPr id="24" name="Content Placeholder 2">
            <a:extLst>
              <a:ext uri="{FF2B5EF4-FFF2-40B4-BE49-F238E27FC236}">
                <a16:creationId xmlns:a16="http://schemas.microsoft.com/office/drawing/2014/main" id="{0F0DEF9F-5993-11FD-F30B-99D3DC3CA2B2}"/>
              </a:ext>
            </a:extLst>
          </p:cNvPr>
          <p:cNvSpPr>
            <a:spLocks noGrp="1"/>
          </p:cNvSpPr>
          <p:nvPr>
            <p:ph idx="1"/>
          </p:nvPr>
        </p:nvSpPr>
        <p:spPr>
          <a:xfrm>
            <a:off x="6849377" y="657227"/>
            <a:ext cx="5334000" cy="6972298"/>
          </a:xfrm>
        </p:spPr>
        <p:txBody>
          <a:bodyPr anchor="t">
            <a:noAutofit/>
          </a:bodyPr>
          <a:lstStyle/>
          <a:p>
            <a:r>
              <a:rPr lang="en-US" sz="1100" b="1" dirty="0">
                <a:effectLst/>
                <a:latin typeface="Calibri" panose="020F0502020204030204" pitchFamily="34" charset="0"/>
                <a:ea typeface="Calibri" panose="020F0502020204030204" pitchFamily="34" charset="0"/>
                <a:cs typeface="Calibri" panose="020F0502020204030204" pitchFamily="34" charset="0"/>
              </a:rPr>
              <a:t>Increase Staff During Peak Hours:</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r>
              <a:rPr lang="en-US" sz="1100" b="1" dirty="0">
                <a:effectLst/>
                <a:latin typeface="Calibri" panose="020F0502020204030204" pitchFamily="34" charset="0"/>
                <a:ea typeface="Calibri" panose="020F0502020204030204" pitchFamily="34" charset="0"/>
                <a:cs typeface="Calibri" panose="020F0502020204030204" pitchFamily="34" charset="0"/>
              </a:rPr>
              <a:t> Based on the analysis, evening hours (4 PM9 PM) and weekends, especially Saturdays, record the highest customer activity. Adding more staff during these periods will help reduce overcrowding, improve customer service, and minimize waiting time.</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a:buFont typeface="Wingdings" panose="05000000000000000000" pitchFamily="2" charset="2"/>
              <a:buChar char="v"/>
            </a:pPr>
            <a:r>
              <a:rPr lang="en-US" sz="1100" b="1" dirty="0">
                <a:effectLst/>
                <a:latin typeface="Calibri" panose="020F0502020204030204" pitchFamily="34" charset="0"/>
                <a:ea typeface="Calibri" panose="020F0502020204030204" pitchFamily="34" charset="0"/>
                <a:cs typeface="Calibri" panose="020F0502020204030204" pitchFamily="34" charset="0"/>
              </a:rPr>
              <a:t>Enhance Inventory Planning:</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marL="450000" lvl="1" indent="0">
              <a:buNone/>
            </a:pPr>
            <a:r>
              <a:rPr lang="en-US" sz="1100" b="1" dirty="0">
                <a:effectLst/>
                <a:latin typeface="Calibri" panose="020F0502020204030204" pitchFamily="34" charset="0"/>
                <a:ea typeface="Calibri" panose="020F0502020204030204" pitchFamily="34" charset="0"/>
                <a:cs typeface="Calibri" panose="020F0502020204030204" pitchFamily="34" charset="0"/>
              </a:rPr>
              <a:t> Ensure that stock levels are increased during high-demand periods to prevent shortages and missed sales opportunities. This will also help maintain smooth operations during peak times.</a:t>
            </a:r>
            <a:endParaRPr lang="en-US" sz="1100" b="1" dirty="0">
              <a:latin typeface="Calibri" panose="020F0502020204030204" pitchFamily="34" charset="0"/>
              <a:ea typeface="Calibri" panose="020F0502020204030204" pitchFamily="34" charset="0"/>
              <a:cs typeface="Calibri" panose="020F0502020204030204" pitchFamily="34" charset="0"/>
            </a:endParaRPr>
          </a:p>
          <a:p>
            <a:r>
              <a:rPr lang="en-US" sz="1100" b="1" dirty="0">
                <a:effectLst/>
                <a:latin typeface="Calibri" panose="020F0502020204030204" pitchFamily="34" charset="0"/>
                <a:ea typeface="Calibri" panose="020F0502020204030204" pitchFamily="34" charset="0"/>
                <a:cs typeface="Calibri" panose="020F0502020204030204" pitchFamily="34" charset="0"/>
              </a:rPr>
              <a:t>Encourage Digital Payments:</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lvl="1"/>
            <a:r>
              <a:rPr lang="en-US" sz="1100" b="1" dirty="0">
                <a:effectLst/>
                <a:latin typeface="Calibri" panose="020F0502020204030204" pitchFamily="34" charset="0"/>
                <a:ea typeface="Calibri" panose="020F0502020204030204" pitchFamily="34" charset="0"/>
                <a:cs typeface="Calibri" panose="020F0502020204030204" pitchFamily="34" charset="0"/>
              </a:rPr>
              <a:t> Since </a:t>
            </a:r>
            <a:r>
              <a:rPr lang="en-US" sz="1100" b="1" dirty="0" err="1">
                <a:effectLst/>
                <a:latin typeface="Calibri" panose="020F0502020204030204" pitchFamily="34" charset="0"/>
                <a:ea typeface="Calibri" panose="020F0502020204030204" pitchFamily="34" charset="0"/>
                <a:cs typeface="Calibri" panose="020F0502020204030204" pitchFamily="34" charset="0"/>
              </a:rPr>
              <a:t>Ewallet</a:t>
            </a:r>
            <a:r>
              <a:rPr lang="en-US" sz="1100" b="1" dirty="0">
                <a:effectLst/>
                <a:latin typeface="Calibri" panose="020F0502020204030204" pitchFamily="34" charset="0"/>
                <a:ea typeface="Calibri" panose="020F0502020204030204" pitchFamily="34" charset="0"/>
                <a:cs typeface="Calibri" panose="020F0502020204030204" pitchFamily="34" charset="0"/>
              </a:rPr>
              <a:t> is the most preferred payment method, introducing loyalty points or small discounts for digital payments can increase adoption and speed up checkout processes.</a:t>
            </a:r>
            <a:endParaRPr lang="en-US" sz="1100" b="1" dirty="0">
              <a:latin typeface="Calibri" panose="020F0502020204030204" pitchFamily="34" charset="0"/>
              <a:ea typeface="Calibri" panose="020F0502020204030204" pitchFamily="34" charset="0"/>
              <a:cs typeface="Calibri" panose="020F0502020204030204" pitchFamily="34" charset="0"/>
            </a:endParaRPr>
          </a:p>
          <a:p>
            <a:r>
              <a:rPr lang="en-US" sz="1100" b="1" dirty="0">
                <a:effectLst/>
                <a:latin typeface="Calibri" panose="020F0502020204030204" pitchFamily="34" charset="0"/>
                <a:ea typeface="Calibri" panose="020F0502020204030204" pitchFamily="34" charset="0"/>
                <a:cs typeface="Calibri" panose="020F0502020204030204" pitchFamily="34" charset="0"/>
              </a:rPr>
              <a:t>Target Key Customer Segments:</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lvl="1"/>
            <a:r>
              <a:rPr lang="en-US" sz="1100" b="1" dirty="0">
                <a:effectLst/>
                <a:latin typeface="Calibri" panose="020F0502020204030204" pitchFamily="34" charset="0"/>
                <a:ea typeface="Calibri" panose="020F0502020204030204" pitchFamily="34" charset="0"/>
                <a:cs typeface="Calibri" panose="020F0502020204030204" pitchFamily="34" charset="0"/>
              </a:rPr>
              <a:t> Focus marketing and promotional campaigns on members and female customers, as they represent the most active and profitable segments.</a:t>
            </a:r>
            <a:endParaRPr lang="en-US" sz="1100" b="1" dirty="0">
              <a:latin typeface="Calibri" panose="020F0502020204030204" pitchFamily="34" charset="0"/>
              <a:ea typeface="Calibri" panose="020F0502020204030204" pitchFamily="34" charset="0"/>
              <a:cs typeface="Calibri" panose="020F0502020204030204" pitchFamily="34" charset="0"/>
            </a:endParaRPr>
          </a:p>
          <a:p>
            <a:r>
              <a:rPr lang="en-US" sz="1100" b="1" dirty="0">
                <a:effectLst/>
                <a:latin typeface="Calibri" panose="020F0502020204030204" pitchFamily="34" charset="0"/>
                <a:ea typeface="Calibri" panose="020F0502020204030204" pitchFamily="34" charset="0"/>
                <a:cs typeface="Calibri" panose="020F0502020204030204" pitchFamily="34" charset="0"/>
              </a:rPr>
              <a:t>         Replicate High-Performing Branch Strategies:</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lvl="1"/>
            <a:r>
              <a:rPr lang="en-US" sz="1100" b="1" dirty="0">
                <a:effectLst/>
                <a:latin typeface="Calibri" panose="020F0502020204030204" pitchFamily="34" charset="0"/>
                <a:ea typeface="Calibri" panose="020F0502020204030204" pitchFamily="34" charset="0"/>
                <a:cs typeface="Calibri" panose="020F0502020204030204" pitchFamily="34" charset="0"/>
              </a:rPr>
              <a:t> Study the success of the Naypyitaw branch and apply similar strategies—such as pricing, promotions, or customer engagement methods—across other branches.</a:t>
            </a:r>
            <a:endParaRPr lang="en-US" sz="1100" b="1" dirty="0">
              <a:latin typeface="Calibri" panose="020F0502020204030204" pitchFamily="34" charset="0"/>
              <a:ea typeface="Calibri" panose="020F0502020204030204" pitchFamily="34" charset="0"/>
              <a:cs typeface="Calibri" panose="020F0502020204030204" pitchFamily="34" charset="0"/>
            </a:endParaRPr>
          </a:p>
          <a:p>
            <a:r>
              <a:rPr lang="en-US" sz="1100" b="1" dirty="0">
                <a:effectLst/>
                <a:latin typeface="Calibri" panose="020F0502020204030204" pitchFamily="34" charset="0"/>
                <a:ea typeface="Calibri" panose="020F0502020204030204" pitchFamily="34" charset="0"/>
                <a:cs typeface="Calibri" panose="020F0502020204030204" pitchFamily="34" charset="0"/>
              </a:rPr>
              <a:t>Continuous Staff Training:</a:t>
            </a:r>
            <a:r>
              <a:rPr lang="en-US" sz="1100" b="1" dirty="0">
                <a:latin typeface="Calibri" panose="020F0502020204030204" pitchFamily="34" charset="0"/>
                <a:ea typeface="Calibri" panose="020F0502020204030204" pitchFamily="34" charset="0"/>
                <a:cs typeface="Calibri" panose="020F0502020204030204" pitchFamily="34" charset="0"/>
              </a:rPr>
              <a:t> </a:t>
            </a:r>
          </a:p>
          <a:p>
            <a:pPr lvl="1"/>
            <a:r>
              <a:rPr lang="en-US" sz="1100" b="1" dirty="0">
                <a:effectLst/>
                <a:latin typeface="Calibri" panose="020F0502020204030204" pitchFamily="34" charset="0"/>
                <a:ea typeface="Calibri" panose="020F0502020204030204" pitchFamily="34" charset="0"/>
                <a:cs typeface="Calibri" panose="020F0502020204030204" pitchFamily="34" charset="0"/>
              </a:rPr>
              <a:t> Regularly train staff on customer service, sales techniques, and digital tools to maintain efficiency and improve customer satisfaction</a:t>
            </a:r>
            <a:endParaRPr lang="en-US" sz="1100" b="1" dirty="0">
              <a:latin typeface="Calibri" panose="020F0502020204030204" pitchFamily="34" charset="0"/>
              <a:ea typeface="Calibri" panose="020F0502020204030204" pitchFamily="34" charset="0"/>
              <a:cs typeface="Calibri" panose="020F0502020204030204" pitchFamily="34" charset="0"/>
            </a:endParaRPr>
          </a:p>
          <a:p>
            <a:r>
              <a:rPr lang="en-US" sz="1100" b="1" dirty="0">
                <a:effectLst/>
                <a:latin typeface="Calibri" panose="020F0502020204030204" pitchFamily="34" charset="0"/>
                <a:ea typeface="Calibri" panose="020F0502020204030204" pitchFamily="34" charset="0"/>
                <a:cs typeface="Calibri" panose="020F0502020204030204" pitchFamily="34" charset="0"/>
              </a:rPr>
              <a:t>Introduce Festive and Occasional Incentives:</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lvl="1"/>
            <a:r>
              <a:rPr lang="en-US" sz="1100" b="1" dirty="0">
                <a:effectLst/>
                <a:latin typeface="Calibri" panose="020F0502020204030204" pitchFamily="34" charset="0"/>
                <a:ea typeface="Calibri" panose="020F0502020204030204" pitchFamily="34" charset="0"/>
                <a:cs typeface="Calibri" panose="020F0502020204030204" pitchFamily="34" charset="0"/>
              </a:rPr>
              <a:t> Offer special discounts, promotional bundles, or loyalty rewards during festive seasons and public holidays. This will attract more customers, boost sales, and enhance brand loyalty during high-traffic periods.</a:t>
            </a:r>
            <a:endParaRPr lang="en-US" sz="11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11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11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BD353B4B-459E-5BD8-4336-8D75D2F2ACE6}"/>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16755438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1">
                <a:shade val="80000"/>
                <a:lumMod val="80000"/>
              </a:schemeClr>
              <a:schemeClr val="bg1">
                <a:tint val="98000"/>
              </a:schemeClr>
            </a:duotone>
          </a:blip>
          <a:stretch/>
        </a:blipFill>
        <a:effectLst/>
      </p:bgPr>
    </p:bg>
    <p:spTree>
      <p:nvGrpSpPr>
        <p:cNvPr id="1" name="">
          <a:extLst>
            <a:ext uri="{FF2B5EF4-FFF2-40B4-BE49-F238E27FC236}">
              <a16:creationId xmlns:a16="http://schemas.microsoft.com/office/drawing/2014/main" id="{227360B2-8AE9-1999-4129-C088F3C38AB0}"/>
            </a:ext>
          </a:extLst>
        </p:cNvPr>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C89EA846-252E-A96B-6341-C83049D33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pic>
        <p:nvPicPr>
          <p:cNvPr id="3" name="Picture 2">
            <a:extLst>
              <a:ext uri="{FF2B5EF4-FFF2-40B4-BE49-F238E27FC236}">
                <a16:creationId xmlns:a16="http://schemas.microsoft.com/office/drawing/2014/main" id="{16734378-14C1-DE7A-E347-53A2BF3A909A}"/>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b="-1"/>
          <a:stretch/>
        </p:blipFill>
        <p:spPr>
          <a:xfrm>
            <a:off x="-8622" y="10"/>
            <a:ext cx="6096000" cy="6857990"/>
          </a:xfrm>
          <a:prstGeom prst="rect">
            <a:avLst/>
          </a:prstGeom>
        </p:spPr>
      </p:pic>
      <p:pic>
        <p:nvPicPr>
          <p:cNvPr id="57" name="Picture 56">
            <a:extLst>
              <a:ext uri="{FF2B5EF4-FFF2-40B4-BE49-F238E27FC236}">
                <a16:creationId xmlns:a16="http://schemas.microsoft.com/office/drawing/2014/main" id="{69B07D52-44C5-03D2-45F5-7AC05840A4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6257026" y="1"/>
            <a:ext cx="5934973" cy="6858000"/>
          </a:xfrm>
          <a:prstGeom prst="rect">
            <a:avLst/>
          </a:prstGeom>
        </p:spPr>
      </p:pic>
      <p:sp>
        <p:nvSpPr>
          <p:cNvPr id="2" name="Title 1">
            <a:extLst>
              <a:ext uri="{FF2B5EF4-FFF2-40B4-BE49-F238E27FC236}">
                <a16:creationId xmlns:a16="http://schemas.microsoft.com/office/drawing/2014/main" id="{B4F246D3-4576-4331-FD41-38B525CB9B59}"/>
              </a:ext>
            </a:extLst>
          </p:cNvPr>
          <p:cNvSpPr>
            <a:spLocks noGrp="1"/>
          </p:cNvSpPr>
          <p:nvPr>
            <p:ph type="title"/>
          </p:nvPr>
        </p:nvSpPr>
        <p:spPr>
          <a:xfrm>
            <a:off x="7019025" y="114301"/>
            <a:ext cx="4902730" cy="428626"/>
          </a:xfrm>
        </p:spPr>
        <p:txBody>
          <a:bodyPr anchor="t">
            <a:noAutofit/>
          </a:bodyPr>
          <a:lstStyle/>
          <a:p>
            <a:r>
              <a:rPr lang="en-US" sz="3600" b="1" dirty="0">
                <a:effectLst/>
                <a:latin typeface="Calibri" panose="020F0502020204030204" pitchFamily="34" charset="0"/>
                <a:ea typeface="Calibri" panose="020F0502020204030204" pitchFamily="34" charset="0"/>
                <a:cs typeface="Calibri" panose="020F0502020204030204" pitchFamily="34" charset="0"/>
              </a:rPr>
              <a:t>Conclusion</a:t>
            </a:r>
            <a:br>
              <a:rPr lang="en-US" sz="3600" dirty="0">
                <a:latin typeface="Calibri" panose="020F0502020204030204" pitchFamily="34" charset="0"/>
                <a:ea typeface="Calibri" panose="020F0502020204030204" pitchFamily="34" charset="0"/>
                <a:cs typeface="Calibri" panose="020F0502020204030204" pitchFamily="34" charset="0"/>
              </a:rPr>
            </a:br>
            <a:r>
              <a:rPr lang="en-US" sz="3600" b="1" dirty="0">
                <a:effectLst/>
                <a:latin typeface="Calibri" panose="020F0502020204030204" pitchFamily="34" charset="0"/>
                <a:ea typeface="Calibri" panose="020F0502020204030204" pitchFamily="34" charset="0"/>
                <a:cs typeface="Calibri" panose="020F0502020204030204" pitchFamily="34" charset="0"/>
              </a:rPr>
              <a:t>  </a:t>
            </a:r>
            <a:br>
              <a:rPr lang="en-US" sz="3600" dirty="0">
                <a:latin typeface="Calibri" panose="020F0502020204030204" pitchFamily="34" charset="0"/>
                <a:ea typeface="Calibri" panose="020F0502020204030204" pitchFamily="34" charset="0"/>
                <a:cs typeface="Calibri" panose="020F0502020204030204" pitchFamily="34" charset="0"/>
              </a:rPr>
            </a:br>
            <a:r>
              <a:rPr lang="en-US" sz="3600" b="1" dirty="0">
                <a:effectLst/>
                <a:latin typeface="Calibri" panose="020F0502020204030204" pitchFamily="34" charset="0"/>
                <a:ea typeface="Calibri" panose="020F0502020204030204" pitchFamily="34" charset="0"/>
                <a:cs typeface="Calibri" panose="020F0502020204030204" pitchFamily="34" charset="0"/>
              </a:rPr>
              <a:t> </a:t>
            </a: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br>
              <a:rPr lang="en-US" sz="3600" dirty="0">
                <a:latin typeface="Calibri" panose="020F0502020204030204" pitchFamily="34" charset="0"/>
                <a:ea typeface="Calibri" panose="020F0502020204030204" pitchFamily="34" charset="0"/>
                <a:cs typeface="Calibri" panose="020F0502020204030204" pitchFamily="34" charset="0"/>
              </a:rPr>
            </a:br>
            <a:endParaRPr lang="en-US" sz="3600" dirty="0">
              <a:latin typeface="Calibri" panose="020F0502020204030204" pitchFamily="34" charset="0"/>
              <a:ea typeface="Calibri" panose="020F0502020204030204" pitchFamily="34" charset="0"/>
              <a:cs typeface="Calibri" panose="020F0502020204030204" pitchFamily="34" charset="0"/>
            </a:endParaRPr>
          </a:p>
        </p:txBody>
      </p:sp>
      <p:sp>
        <p:nvSpPr>
          <p:cNvPr id="24" name="Content Placeholder 2">
            <a:extLst>
              <a:ext uri="{FF2B5EF4-FFF2-40B4-BE49-F238E27FC236}">
                <a16:creationId xmlns:a16="http://schemas.microsoft.com/office/drawing/2014/main" id="{16B8713E-B111-ABFC-017D-5F5DFCB3FAF4}"/>
              </a:ext>
            </a:extLst>
          </p:cNvPr>
          <p:cNvSpPr>
            <a:spLocks noGrp="1"/>
          </p:cNvSpPr>
          <p:nvPr>
            <p:ph idx="1"/>
          </p:nvPr>
        </p:nvSpPr>
        <p:spPr>
          <a:xfrm>
            <a:off x="6803390" y="771527"/>
            <a:ext cx="5334000" cy="6086472"/>
          </a:xfrm>
        </p:spPr>
        <p:txBody>
          <a:bodyPr anchor="t">
            <a:noAutofit/>
          </a:bodyPr>
          <a:lstStyle/>
          <a:p>
            <a:r>
              <a:rPr lang="en-US" sz="1400" b="1" dirty="0">
                <a:effectLst/>
                <a:latin typeface="Calibri" panose="020F0502020204030204" pitchFamily="34" charset="0"/>
                <a:ea typeface="Calibri" panose="020F0502020204030204" pitchFamily="34" charset="0"/>
                <a:cs typeface="Calibri" panose="020F0502020204030204" pitchFamily="34" charset="0"/>
              </a:rPr>
              <a:t>The supermarket sales analysis provided valuable insights into the company’s overall performance, customer behavior, and sales trends across branches. Using a structured data model consisting of one fact table and five dimensions tables, the analysis effectively captured key business metrics such as total revenue, gross income, customer segmentation, product performance, and payment preferences.</a:t>
            </a:r>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dirty="0">
                <a:effectLst/>
                <a:latin typeface="Calibri" panose="020F0502020204030204" pitchFamily="34" charset="0"/>
                <a:ea typeface="Calibri" panose="020F0502020204030204" pitchFamily="34" charset="0"/>
                <a:cs typeface="Calibri" panose="020F0502020204030204" pitchFamily="34" charset="0"/>
              </a:rPr>
              <a:t>Findings revealed that Naypyitaw recorded the highest sales, Food and Beverages generated the most revenue, and E-wallet emerged as the most preferred payment method. The data also showed that members and female customers contributed significantly to total sales, while evening hours and weekends experienced the highest purchase activity.</a:t>
            </a:r>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dirty="0">
                <a:effectLst/>
                <a:latin typeface="Calibri" panose="020F0502020204030204" pitchFamily="34" charset="0"/>
                <a:ea typeface="Calibri" panose="020F0502020204030204" pitchFamily="34" charset="0"/>
                <a:cs typeface="Calibri" panose="020F0502020204030204" pitchFamily="34" charset="0"/>
              </a:rPr>
              <a:t>Through Power BI, these insights were presented visually across three report pages — revenue trend, customer segmentation, and time-series analysis — allowing for easy interpretation and data-driven decision-making.</a:t>
            </a:r>
            <a:endParaRPr lang="en-US" sz="1400" dirty="0">
              <a:latin typeface="Calibri" panose="020F0502020204030204" pitchFamily="34" charset="0"/>
              <a:ea typeface="Calibri" panose="020F0502020204030204" pitchFamily="34" charset="0"/>
              <a:cs typeface="Calibri" panose="020F0502020204030204" pitchFamily="34" charset="0"/>
            </a:endParaRPr>
          </a:p>
          <a:p>
            <a:r>
              <a:rPr lang="en-US" sz="1400" b="1" dirty="0">
                <a:effectLst/>
                <a:latin typeface="Calibri" panose="020F0502020204030204" pitchFamily="34" charset="0"/>
                <a:ea typeface="Calibri" panose="020F0502020204030204" pitchFamily="34" charset="0"/>
                <a:cs typeface="Calibri" panose="020F0502020204030204" pitchFamily="34" charset="0"/>
              </a:rPr>
              <a:t>In conclusion, the project successfully demonstrated how analytical tools and techniques can transform raw sales data into actionable insights. The outcomes can help management improve marketing strategies, optimize staffing during peak periods, enhance customer engagement, and increase overall business profitability.</a:t>
            </a:r>
            <a:endParaRPr lang="en-US" sz="1400"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1400" b="1" dirty="0">
              <a:latin typeface="Calibri" panose="020F0502020204030204" pitchFamily="34" charset="0"/>
              <a:ea typeface="Calibri" panose="020F0502020204030204" pitchFamily="34" charset="0"/>
              <a:cs typeface="Calibri" panose="020F0502020204030204" pitchFamily="34" charset="0"/>
            </a:endParaRPr>
          </a:p>
          <a:p>
            <a:pPr marL="36900" indent="0">
              <a:buNone/>
            </a:pPr>
            <a:endParaRPr lang="en-US" sz="1400" b="1"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6989CAE0-8877-D460-126E-FE14B6D55469}"/>
              </a:ext>
            </a:extLst>
          </p:cNvPr>
          <p:cNvPicPr>
            <a:picLocks noChangeAspect="1"/>
          </p:cNvPicPr>
          <p:nvPr/>
        </p:nvPicPr>
        <p:blipFill>
          <a:blip r:embed="rId7"/>
          <a:stretch>
            <a:fillRect/>
          </a:stretch>
        </p:blipFill>
        <p:spPr>
          <a:xfrm>
            <a:off x="-8623" y="0"/>
            <a:ext cx="6858000" cy="6858000"/>
          </a:xfrm>
          <a:prstGeom prst="rect">
            <a:avLst/>
          </a:prstGeom>
        </p:spPr>
      </p:pic>
    </p:spTree>
    <p:extLst>
      <p:ext uri="{BB962C8B-B14F-4D97-AF65-F5344CB8AC3E}">
        <p14:creationId xmlns:p14="http://schemas.microsoft.com/office/powerpoint/2010/main" val="18342752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3.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4.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5.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6.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7.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8.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9.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10.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11.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ppt/theme/themeOverride12.xml><?xml version="1.0" encoding="utf-8"?>
<a:themeOverride xmlns:a="http://schemas.openxmlformats.org/drawingml/2006/main">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4C00F4-06E9-43E3-AD97-88A857CEFA82}">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4B270AB-C138-415C-897E-3C24487DECF1}">
  <ds:schemaRefs>
    <ds:schemaRef ds:uri="http://schemas.microsoft.com/sharepoint/v3/contenttype/forms"/>
  </ds:schemaRefs>
</ds:datastoreItem>
</file>

<file path=customXml/itemProps3.xml><?xml version="1.0" encoding="utf-8"?>
<ds:datastoreItem xmlns:ds="http://schemas.openxmlformats.org/officeDocument/2006/customXml" ds:itemID="{0585E981-8C91-4205-A0C3-C991F42B4C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{BDB8B587-F5F2-442D-97B6-BFAFDE17D0D8}TFe742eee6-54b3-45e8-a03d-f3d997f9b6caf6c338c2_win32-3734725ae7e2</Template>
  <TotalTime>103</TotalTime>
  <Words>1444</Words>
  <Application>Microsoft Office PowerPoint</Application>
  <PresentationFormat>Widescreen</PresentationFormat>
  <Paragraphs>123</Paragraphs>
  <Slides>12</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Goudy Old Style</vt:lpstr>
      <vt:lpstr>Wingdings</vt:lpstr>
      <vt:lpstr>Wingdings 2</vt:lpstr>
      <vt:lpstr>SlateVTI</vt:lpstr>
      <vt:lpstr>Fresh Mart Superstores Analysis Report</vt:lpstr>
      <vt:lpstr>Business Objective  </vt:lpstr>
      <vt:lpstr>Dataset Overview  </vt:lpstr>
      <vt:lpstr>Business Problem  </vt:lpstr>
      <vt:lpstr>Setting Clear Metrics   </vt:lpstr>
      <vt:lpstr> Gathering the Data    </vt:lpstr>
      <vt:lpstr> Cleaning the Data     </vt:lpstr>
      <vt:lpstr> Data Analysis and Key Insights      </vt:lpstr>
      <vt:lpstr> Data Analysis 2      </vt:lpstr>
      <vt:lpstr> Summary      </vt:lpstr>
      <vt:lpstr> Recommendations         </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Anne Adeleye</dc:creator>
  <cp:lastModifiedBy>Anne Adeleye</cp:lastModifiedBy>
  <cp:revision>1</cp:revision>
  <dcterms:created xsi:type="dcterms:W3CDTF">2025-11-03T19:12:57Z</dcterms:created>
  <dcterms:modified xsi:type="dcterms:W3CDTF">2025-11-04T00:12:50Z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